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920240"/>
            <a:ext cx="2880360" cy="2880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03120"/>
            <a:ext cx="251460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914400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UNIVERSIDAD CATÓLICA BOLIVIANA «SAN PABLO»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BE8"/>
                </a:solidFill>
                <a:latin typeface="Calibri"/>
              </a:rPr>
              <a:t>Defensa Final · Proyecto Integrador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82880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Predicción de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0B429"/>
                </a:solidFill>
                <a:latin typeface="Georgia"/>
              </a:rPr>
              <a:t>Precios Inmobiliarios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61188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B8CBE8"/>
                </a:solidFill>
                <a:latin typeface="Calibri"/>
              </a:rPr>
              <a:t>Sistema de Tasación de Viviendas con Machine Learning — Dataset Ames Housing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160520"/>
            <a:ext cx="6949440" cy="254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343400"/>
            <a:ext cx="7680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0B429"/>
                </a:solidFill>
                <a:latin typeface="Calibri"/>
              </a:rPr>
              <a:t>INTEGRANTES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Jean Marco Fernández Silva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Sergio Alejandro Arias Mayta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Marvin Larry Mollo Ramírez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Jaime Ignacio Huaycho Clavel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Sergio Alexander Mendoza Choque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94360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A2C8"/>
                </a:solidFill>
                <a:latin typeface="Calibri"/>
              </a:rPr>
              <a:t>SIS-351 Machine Learning   ·   CRISP-DM   ·   Docente: Ing. Ovidio Roger Patón Gutiérrez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HOJA DE RUTA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Lo que veremos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72800" cy="749808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7498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2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Contexto y metodología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El problema de tasación y cómo CRISP-DM estructura la solución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972800" cy="749808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109728" cy="7498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974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Datos, ML clásico y 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17520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Repaso Fase 2: EDA, modelos de regresión, AutoML y segmentos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10972800" cy="749808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109728" cy="7498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2044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Deep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40480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Fase 3: MLP y Autoencoder — ¿aporta valor la red profunda?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51960"/>
            <a:ext cx="10972800" cy="749808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51960"/>
            <a:ext cx="109728" cy="7498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34340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MLOps, RAG y Monitoreo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663440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Fase 4: MLflow, búsqueda con FAISS y deriva con PSI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74920"/>
            <a:ext cx="10972800" cy="749808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074920"/>
            <a:ext cx="109728" cy="7498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16636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Integración, conclusiones y ética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486400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Fase 5: el hilo conductor y la lectura crítica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97880"/>
            <a:ext cx="10972800" cy="749808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897880"/>
            <a:ext cx="109728" cy="7498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9788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98932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Demostración funcional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6309360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La app de tasación en acción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BUSINESS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El problema que resolvemos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864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EL PROBLEMA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La tasación tradicional de viviendas depende del juicio de un experto: es subjetiva, lenta e inconsistente entre tasadores.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PROPONEMOS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Un sistema automático que estime el precio de venta de una vivienda a partir de sus atributos, y que además muestre propiedades comparables para justificar la cifra.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VARIABLE OBJETIVO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Sale_Price (precio de venta en USD) — regresión supervisada.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0B429"/>
                </a:solidFill>
                <a:latin typeface="Calibri"/>
              </a:rPr>
              <a:t>CRITERIOS DE ÉXITO DEFINIDOS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240280"/>
            <a:ext cx="2468880" cy="16002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240280"/>
            <a:ext cx="2468880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0B429"/>
                </a:solidFill>
                <a:latin typeface="Georgia"/>
              </a:rPr>
              <a:t>R² ≥ 0,85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918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8CBE8"/>
                </a:solidFill>
                <a:latin typeface="Calibri"/>
              </a:rPr>
              <a:t>Precisión predictiva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240280"/>
            <a:ext cx="2468880" cy="16002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2240280"/>
            <a:ext cx="2468880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51460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0B429"/>
                </a:solidFill>
                <a:latin typeface="Georgia"/>
              </a:rPr>
              <a:t>≤ $25.000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2918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8CBE8"/>
                </a:solidFill>
                <a:latin typeface="Calibri"/>
              </a:rPr>
              <a:t>Error (RMSE) objetivo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069080"/>
            <a:ext cx="2468880" cy="16002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4069080"/>
            <a:ext cx="2468880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0B429"/>
                </a:solidFill>
                <a:latin typeface="Georgia"/>
              </a:rPr>
              <a:t>SHAP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1206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8CBE8"/>
                </a:solidFill>
                <a:latin typeface="Calibri"/>
              </a:rPr>
              <a:t>Cada predicción explicable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069080"/>
            <a:ext cx="2468880" cy="16002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4069080"/>
            <a:ext cx="2468880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434340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0B429"/>
                </a:solidFill>
                <a:latin typeface="Georgia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1206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8CBE8"/>
                </a:solidFill>
                <a:latin typeface="Calibri"/>
              </a:rPr>
              <a:t>Pipeline reproducible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METODOLOGÍA OBLIGATORIA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CRISP-DM de extremo a extremo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POR QUÉ CRISP-DM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Estructura el proyecto en 6 fases iterativas y garantiza que no solo entrenemos un modelo, sino que entendamos el problema, justifiquemos decisiones y podamos reproducir resultados.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1661160" cy="1417320"/>
          </a:xfrm>
          <a:prstGeom prst="roundRect">
            <a:avLst/>
          </a:prstGeom>
          <a:solidFill>
            <a:srgbClr val="18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1661160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661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A1A3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661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Business
Understanding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2408" y="2697480"/>
            <a:ext cx="1661160" cy="141732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02408" y="2697480"/>
            <a:ext cx="1661160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2408" y="2697480"/>
            <a:ext cx="1661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A1A34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3200400"/>
            <a:ext cx="1661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Data
Understanding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4736" y="2697480"/>
            <a:ext cx="1661160" cy="1417320"/>
          </a:xfrm>
          <a:prstGeom prst="roundRect">
            <a:avLst/>
          </a:prstGeom>
          <a:solidFill>
            <a:srgbClr val="18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4736" y="2697480"/>
            <a:ext cx="1661160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4736" y="2697480"/>
            <a:ext cx="1661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A1A34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3200400"/>
            <a:ext cx="1661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Data
Preparation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697480"/>
            <a:ext cx="1661160" cy="141732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7064" y="2697480"/>
            <a:ext cx="1661160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2697480"/>
            <a:ext cx="1661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A1A34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200400"/>
            <a:ext cx="1661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Modeling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9392" y="2697480"/>
            <a:ext cx="1661160" cy="1417320"/>
          </a:xfrm>
          <a:prstGeom prst="roundRect">
            <a:avLst/>
          </a:prstGeom>
          <a:solidFill>
            <a:srgbClr val="18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89392" y="2697480"/>
            <a:ext cx="1661160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9392" y="2697480"/>
            <a:ext cx="1661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A1A34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9392" y="3200400"/>
            <a:ext cx="1661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51720" y="2697480"/>
            <a:ext cx="1661160" cy="141732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51720" y="2697480"/>
            <a:ext cx="1661160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1720" y="2697480"/>
            <a:ext cx="1661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A1A34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1720" y="3200400"/>
            <a:ext cx="1661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0B429"/>
                </a:solidFill>
                <a:latin typeface="Calibri"/>
              </a:rPr>
              <a:t>TRES MINI PROYECTOS ARTICULADOS SOBRE EL MISMO DOMINIO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46320"/>
            <a:ext cx="3520440" cy="118872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846320"/>
            <a:ext cx="91440" cy="1188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83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Calibri"/>
              </a:rPr>
              <a:t>1.  Machine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94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CBE8"/>
                </a:solidFill>
                <a:latin typeface="Calibri"/>
              </a:rPr>
              <a:t>Regresión clásica + AutoML + Clustering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46320"/>
            <a:ext cx="3520440" cy="118872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4846320"/>
            <a:ext cx="91440" cy="1188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4983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Calibri"/>
              </a:rPr>
              <a:t>2.  Deep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394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CBE8"/>
                </a:solidFill>
                <a:latin typeface="Calibri"/>
              </a:rPr>
              <a:t>MLP y Autoencoder tabular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846320"/>
            <a:ext cx="3520440" cy="118872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846320"/>
            <a:ext cx="91440" cy="1188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983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Calibri"/>
              </a:rPr>
              <a:t>3.  MLOps + RAG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394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CBE8"/>
                </a:solidFill>
                <a:latin typeface="Calibri"/>
              </a:rPr>
              <a:t>Tracking, recuperación y monitoreo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El dataset: Ames Housing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ES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Registro de 2.930 ventas residenciales en Ames, Iowa (2006–2010), publicado por De Cock (2011).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POR QUÉ ES CONFIABLE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Fuente verificable y trazable: OpenML ID 41211. Registramos versión, fecha de acceso y hashes MD5.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CONTIENE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81 variables que describen superficie, calidad, antigüedad, garaje, sótano y ubicación de cada vivienda.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2514600" cy="128016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84248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0B429"/>
                </a:solidFill>
                <a:latin typeface="Georgia"/>
              </a:rPr>
              <a:t>2.930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6243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8CBE8"/>
                </a:solidFill>
                <a:latin typeface="Calibri"/>
              </a:rPr>
              <a:t>VIVIENDAS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783080"/>
            <a:ext cx="2514600" cy="128016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984248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0B429"/>
                </a:solidFill>
                <a:latin typeface="Georgia"/>
              </a:rP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243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8CBE8"/>
                </a:solidFill>
                <a:latin typeface="Calibri"/>
              </a:rPr>
              <a:t>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46120"/>
            <a:ext cx="2514600" cy="128016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447288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0B429"/>
                </a:solidFill>
                <a:latin typeface="Georgia"/>
              </a:rPr>
              <a:t>$160k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0873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8CBE8"/>
                </a:solidFill>
                <a:latin typeface="Calibri"/>
              </a:rPr>
              <a:t>PRECIO MEDIANO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3246120"/>
            <a:ext cx="2514600" cy="128016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3447288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0B429"/>
                </a:solidFill>
                <a:latin typeface="Georgia"/>
              </a:rPr>
              <a:t>$12k–$755k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0873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8CBE8"/>
                </a:solidFill>
                <a:latin typeface="Calibri"/>
              </a:rPr>
              <a:t>RANGO DE PRECIOS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09160"/>
            <a:ext cx="2514600" cy="128016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910328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0B429"/>
                </a:solidFill>
                <a:latin typeface="Georgia"/>
              </a:rPr>
              <a:t>35 / 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5504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8CBE8"/>
                </a:solidFill>
                <a:latin typeface="Calibri"/>
              </a:rPr>
              <a:t>NUM. / CATEGÓRICAS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4709160"/>
            <a:ext cx="2514600" cy="128016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910328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0B429"/>
                </a:solidFill>
                <a:latin typeface="Georgia"/>
              </a:rPr>
              <a:t>1,744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5504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8CBE8"/>
                </a:solidFill>
                <a:latin typeface="Calibri"/>
              </a:rPr>
              <a:t>SKEW →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Análisis Exploratorio (EDA)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HICIMOS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Analizamos correlaciones, distribuciones y riesgos de calidad antes de modelar.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ENCONTRAMOS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El precio lo explican sobre todo la superficie habitable (r=0,707), el garaje (0,648) y el sótano (0,633). Coherente con el sentido común inmobiliario.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RIESGOS DETECTADOS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Faltantes estructurales, 3 outliers (casas enormes a precio bajo) y fuerte asimetría del precio (skew 1,744) — corregida con transformación logarítmica.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783080"/>
            <a:ext cx="56692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178" y="1929384"/>
            <a:ext cx="4586683" cy="4050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Preparación y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TRANSFORMAMOS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Imputamos faltantes, codificamos categóricas (One-Hot), escalamos numéricas y aplicamos log a las variables sesgadas. De 81 columnas pasamos a 263 features.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FEATURE ENGINEERING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Creamos 7 variables nuevas. La estrella: Total_SF (superficie total), que alcanzó r = 0,832 con el precio — el predictor más fuerte de todo el proyecto.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PARTICIÓN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70/15/15 estratificada por quintiles de precio. El pipeline se ajusta SOLO en train para evitar fuga de información (data leakage).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783080"/>
            <a:ext cx="5577840" cy="13716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783080"/>
            <a:ext cx="109728" cy="13716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6596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0B429"/>
                </a:solidFill>
                <a:latin typeface="Georgia"/>
              </a:rPr>
              <a:t>Total_SF  →  r = 0,832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06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CBE8"/>
                </a:solidFill>
                <a:latin typeface="Calibri"/>
              </a:rPr>
              <a:t>El predictor más fuerte — creado por nosotros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291840"/>
            <a:ext cx="557784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_spli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560" y="3438144"/>
            <a:ext cx="5193360" cy="2542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MODELING +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Machine Learning clásico + AutoML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84632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HICIMOS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Entrenamos un baseline lineal (Ridge), dos no lineales (Random Forest, XGBoost) y un benchmark obligatorio con AutoML (FLAML) — todos sobre la misma partición.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4846320" cy="47548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1A34"/>
                </a:solidFill>
                <a:latin typeface="Calibri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788920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1A34"/>
                </a:solidFill>
                <a:latin typeface="Calibri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88920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1A34"/>
                </a:solidFill>
                <a:latin typeface="Calibri"/>
              </a:rPr>
              <a:t>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64408"/>
            <a:ext cx="4846320" cy="475488"/>
          </a:xfrm>
          <a:prstGeom prst="rect">
            <a:avLst/>
          </a:prstGeom>
          <a:solidFill>
            <a:srgbClr val="18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0B429"/>
                </a:solidFill>
                <a:latin typeface="Calibri"/>
              </a:rPr>
              <a:t>Ridge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64408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0B429"/>
                </a:solidFill>
                <a:latin typeface="Calibri"/>
              </a:rPr>
              <a:t>0,9359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64408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0B429"/>
                </a:solidFill>
                <a:latin typeface="Calibri"/>
              </a:rPr>
              <a:t>$20.035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39896"/>
            <a:ext cx="4846320" cy="475488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39896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AutoML FLAML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39896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0,9311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739896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$20.773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15384"/>
            <a:ext cx="4846320" cy="475488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15384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15384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0,9219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215384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$22.106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90872"/>
            <a:ext cx="4846320" cy="475488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90872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690872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0,9017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690872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$24.805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Resultado: </a:t>
            </a:r>
            <a:r>
              <a:rPr sz="1250" b="0" i="0">
                <a:solidFill>
                  <a:srgbClr val="B8CBE8"/>
                </a:solidFill>
                <a:latin typeface="Calibri"/>
              </a:rPr>
              <a:t>el modelo más simple (Ridge) ganó a todos, incluso a AutoML. La complejidad no garantiza mejor desempeño en datos tabulares.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1783080"/>
            <a:ext cx="56692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16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2792256"/>
            <a:ext cx="5376672" cy="232504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Interpretabilidad con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HICIMOS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Aplicamos SHAP para explicar las predicciones, no solo reportar un puntaje global.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POR QUÉ IMPORTA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Un tasador necesita saber POR QUÉ el modelo da un precio. SHAP hace el sistema auditable y transparente.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OBTUVIMOS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Las variables más influyentes son la calidad general, la superficie total y el año de construcción — confirmando el EDA.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783080"/>
            <a:ext cx="56692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2_shap_summ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587" y="1929384"/>
            <a:ext cx="5105865" cy="4050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NO SUPERVISADO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Clustering — Segmentos de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48056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HICIMOS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K-Means (K=4, elegido por codo + silueta) para descubrir segmentos naturales del mercado sin usar el precio como etiqueta.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PARA QUÉ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Entender la estructura del mercado y contextualizar el error del modelo por tipo de vivienda.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4480560" cy="54864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794760"/>
            <a:ext cx="91440" cy="5486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Económico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794760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Georgia"/>
              </a:rPr>
              <a:t>$127k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79476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30,7%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4480560" cy="54864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34840"/>
            <a:ext cx="91440" cy="5486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34840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Georgia"/>
              </a:rPr>
              <a:t>$185k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43484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36,8%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4480560" cy="54864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91440" cy="5486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7492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Lujo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74920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Georgia"/>
              </a:rPr>
              <a:t>$300k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07492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16,0%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15000"/>
            <a:ext cx="4480560" cy="54864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715000"/>
            <a:ext cx="91440" cy="5486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1500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Histórico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715000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Georgia"/>
              </a:rPr>
              <a:t>$133k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71500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B8CBE8"/>
                </a:solidFill>
                <a:latin typeface="Calibri"/>
              </a:rPr>
              <a:t>16,5%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1783080"/>
            <a:ext cx="56692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18_cluster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2091378"/>
            <a:ext cx="5376672" cy="372680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Fase 3 · MLP Tabular (PyTorch)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HICIMOS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Implementamos una red neuronal profunda (MLP) como enfoque profundo principal, con 301.313 parámetros.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CÓMO LA ENTRENAMOS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Adam + ReduceLROnPlateau + Early Stopping. Se detuvo en la época 113, cuando la validación dejó de mejorar.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OBTUVIMOS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R² = 0,8619 · RMSE = $29.401. Las curvas muestran que NO hay sobreajuste gracias al early stopping.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4937760" cy="50292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4663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0B429"/>
                </a:solidFill>
                <a:latin typeface="Consolas"/>
              </a:rPr>
              <a:t>263 → 512 → 256 → 128 →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783080"/>
            <a:ext cx="56692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5_mlp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2635251"/>
            <a:ext cx="5376672" cy="26390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Fase 3 · Autoencoder Tabular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HICIMOS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Un Autoencoder no supervisado que aprende a comprimir y reconstruir las viviendas, SIN usar el precio.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PARA QUÉ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Obtener una representación latente compacta de cada vivienda, alternativa para la búsqueda de similitud.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OBTUVIMOS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Comprime las 263 features a solo 32 dimensiones (12,2% del espacio original) preservando la estructura de los datos.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4937760" cy="50292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4663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onsolas"/>
              </a:rPr>
              <a:t>263 → 32D latente → 263   ·   89.319 params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920240"/>
            <a:ext cx="56692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2_autoencoder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2886152"/>
            <a:ext cx="5376672" cy="2091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CONCLUSIÓN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¿Conviene el Deep Learning aquí?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85216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6_mlp_vs_clas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926424"/>
            <a:ext cx="5559552" cy="20567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783080"/>
            <a:ext cx="484632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HALLAZGO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El MLP (R²=0,8619) NO supera a Ridge (R²=0,9359). En datasets tabulares pequeños, los modelos clásicos ganan.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POR QUÉ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Con ~2.900 filas no hay suficientes datos para que la red profunda explote su capacidad.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ENTONCES ¿PARA QUÉ SIRVIÓ?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Su verdadero valor son los embeddings de 128D que genera — la materia prima de la recuperación de la Fase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REPRESENTACIÓN LATENTE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Embeddings: el puente entre fases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SON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Vectores de 128 dimensiones que el MLP aprende internamente y que capturan la 'esencia' de cada vivienda.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CÓMO SE VEN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Al proyectarlos en 2D (PCA), las viviendas se ordenan por precio: el espacio aprendido tiene sentido.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PARA QUÉ LOS USAMOS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50" b="0" i="0">
                <a:solidFill>
                  <a:srgbClr val="B8CBE8"/>
                </a:solidFill>
                <a:latin typeface="Calibri"/>
              </a:rPr>
              <a:t>Son la base de la búsqueda de propiedades similares (RAG) de la Fase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920240"/>
            <a:ext cx="56692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7_mlp_embedding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2938545"/>
            <a:ext cx="5376672" cy="1986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Fase 4 · Trazabilidad con MLflow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84632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HICIMOS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Registramos los 5 modelos en MLflow con sus hiperparámetros, métricas y artefactos, y promovimos el mejor (Ridge) a Production.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POR QUÉ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Para que cualquier persona pueda reproducir el flujo y saber qué modelo y qué datos se usaron (versionado con hashes MD5).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94760"/>
            <a:ext cx="4846320" cy="41148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1A34"/>
                </a:solidFill>
                <a:latin typeface="Calibri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79476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1A34"/>
                </a:solidFill>
                <a:latin typeface="Calibri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79476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1A34"/>
                </a:solidFill>
                <a:latin typeface="Calibri"/>
              </a:rPr>
              <a:t>Estado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4846320" cy="411480"/>
          </a:xfrm>
          <a:prstGeom prst="rect">
            <a:avLst/>
          </a:prstGeom>
          <a:solidFill>
            <a:srgbClr val="18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0B429"/>
                </a:solidFill>
                <a:latin typeface="Calibri"/>
              </a:rPr>
              <a:t>Ridge_Baseline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20624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0B429"/>
                </a:solidFill>
                <a:latin typeface="Calibri"/>
              </a:rPr>
              <a:t>0,9359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20624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0B429"/>
                </a:solidFill>
                <a:latin typeface="Calibri"/>
              </a:rPr>
              <a:t>Production 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4846320" cy="41148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AutoML_FLAML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61772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0,9311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61772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registrado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29200"/>
            <a:ext cx="4846320" cy="41148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502920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0,9219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502920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registrado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40680"/>
            <a:ext cx="4846320" cy="41148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4068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Random_Forest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44068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0,9017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544068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registrado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52160"/>
            <a:ext cx="4846320" cy="41148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5216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MLP_Tabular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85216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0,8619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85216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registrado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1783080"/>
            <a:ext cx="5577840" cy="123444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89320" y="1783080"/>
            <a:ext cx="91440" cy="1234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783080"/>
            <a:ext cx="21945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0B429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1783080"/>
            <a:ext cx="29260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8CBE8"/>
                </a:solidFill>
                <a:latin typeface="Calibri"/>
              </a:rPr>
              <a:t>modelos versionados en MLflow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3246120"/>
            <a:ext cx="5577840" cy="123444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3246120"/>
            <a:ext cx="91440" cy="1234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246120"/>
            <a:ext cx="21945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0B429"/>
                </a:solidFill>
                <a:latin typeface="Georgia"/>
              </a:rPr>
              <a:t>MD5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246120"/>
            <a:ext cx="29260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8CBE8"/>
                </a:solidFill>
                <a:latin typeface="Calibri"/>
              </a:rPr>
              <a:t>hash de cada partición de datos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4709160"/>
            <a:ext cx="5577840" cy="123444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4709160"/>
            <a:ext cx="91440" cy="1234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709160"/>
            <a:ext cx="21945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0B429"/>
                </a:solidFill>
                <a:latin typeface="Georgia"/>
              </a:rPr>
              <a:t>predict.py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709160"/>
            <a:ext cx="29260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8CBE8"/>
                </a:solidFill>
                <a:latin typeface="Calibri"/>
              </a:rPr>
              <a:t>pipeline de inferencia reproducible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RAG / RECUPERACIÓN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Fase 4 · Búsqueda de Similares (FAISS)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383280" cy="1371600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0A1A34"/>
                </a:solidFill>
                <a:latin typeface="Georgia"/>
              </a:rPr>
              <a:t>70,4%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1A34"/>
                </a:solidFill>
                <a:latin typeface="Calibri"/>
              </a:rPr>
              <a:t>PRECISIÓN@5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91640"/>
            <a:ext cx="3383280" cy="13716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74519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0B429"/>
                </a:solidFill>
                <a:latin typeface="Georgia"/>
              </a:rPr>
              <a:t>196×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517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8CBE8"/>
                </a:solidFill>
                <a:latin typeface="Calibri"/>
              </a:rPr>
              <a:t>MÁS RÁPIDO QUE 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91640"/>
            <a:ext cx="3383280" cy="13716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874519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0B429"/>
                </a:solidFill>
                <a:latin typeface="Georgia"/>
              </a:rPr>
              <a:t>2.927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6517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8CBE8"/>
                </a:solidFill>
                <a:latin typeface="Calibri"/>
              </a:rPr>
              <a:t>VIVIENDAS INDEXADAS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21208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HICIMOS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250" b="0" i="0">
                <a:solidFill>
                  <a:srgbClr val="B8CBE8"/>
                </a:solidFill>
                <a:latin typeface="Calibri"/>
              </a:rPr>
              <a:t>Indexamos los embeddings 128D del MLP con FAISS (similitud coseno). Dada una vivienda, recupera las 5 más parecidas.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PARA QUÉ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250" b="0" i="0">
                <a:solidFill>
                  <a:srgbClr val="B8CBE8"/>
                </a:solidFill>
                <a:latin typeface="Calibri"/>
              </a:rPr>
              <a:t>Mostrar propiedades comparables que contextualizan y justifican la tasación ante el usuario.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OBTUVIMOS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250" b="0" i="0">
                <a:solidFill>
                  <a:srgbClr val="B8CBE8"/>
                </a:solidFill>
                <a:latin typeface="Calibri"/>
              </a:rPr>
              <a:t>70,4% de los vecinos caen en el mismo segmento de precio, y la búsqueda es 196× más rápida que el método clásico.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291840"/>
            <a:ext cx="54864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30_precision_a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880" y="3438144"/>
            <a:ext cx="4825600" cy="2633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MONITOREO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Fase 4 · Detección de Deriva (PSI)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1264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4_psi_drift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877974"/>
            <a:ext cx="5833872" cy="21536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1783080"/>
            <a:ext cx="45720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HICIMOS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Implementamos el PSI (Population Stability Index) para detectar cuándo los datos en producción se alejan de los de entrenamiento.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PARA QUÉ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300" b="0" i="0">
                <a:solidFill>
                  <a:srgbClr val="B8CBE8"/>
                </a:solidFill>
                <a:latin typeface="Calibri"/>
              </a:rPr>
              <a:t>Disparar automáticamente el reentrenamiento del modelo cuando deja de ser confiable.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069080"/>
            <a:ext cx="4572000" cy="9144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4206240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Sin deriva → PSI &lt; 0,10  ·  </a:t>
            </a:r>
            <a:r>
              <a:rPr sz="1300" b="1" i="0">
                <a:solidFill>
                  <a:srgbClr val="49C595"/>
                </a:solidFill>
                <a:latin typeface="Calibri"/>
              </a:rPr>
              <a:t>no reentrenar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5120640"/>
            <a:ext cx="4572000" cy="914400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5257800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A1A34"/>
                </a:solidFill>
                <a:latin typeface="Calibri"/>
              </a:rPr>
              <a:t>Con deriva → PSI = 8,46  ·  </a:t>
            </a:r>
            <a:r>
              <a:rPr sz="1300" b="1" i="0">
                <a:solidFill>
                  <a:srgbClr val="0A1A34"/>
                </a:solidFill>
                <a:latin typeface="Calibri"/>
              </a:rPr>
              <a:t>REENTRENAR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Demostración Funcional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76072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QUÉ CONSTRUIMOS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Una aplicación web (Streamlit) donde el usuario ingresa los atributos de una vivienda y obtiene al instante el precio estimado.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VALOR AGREGADO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Junto al precio, muestra las 5 propiedades más similares (RAG) para que el usuario contextualice la cifra.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TAMBIÉN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00" b="0" i="0">
                <a:solidFill>
                  <a:srgbClr val="B8CBE8"/>
                </a:solidFill>
                <a:latin typeface="Calibri"/>
              </a:rPr>
              <a:t>Disponible como demo por consola (CLI): python app/demo.py --idx 10 --k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011680"/>
            <a:ext cx="4663440" cy="27432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0" y="2011680"/>
            <a:ext cx="4663440" cy="548640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A1A34"/>
                </a:solidFill>
                <a:latin typeface="Calibri"/>
              </a:rPr>
              <a:t>EJEMPLO REAL DE INFERENCIA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74320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0B429"/>
                </a:solidFill>
                <a:latin typeface="Georgia"/>
              </a:rPr>
              <a:t>$103.417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7033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predicho   vs   $97.900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1605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49C595"/>
                </a:solidFill>
                <a:latin typeface="Calibri"/>
              </a:rPr>
              <a:t>error de solo 5,6%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INTEGRACIÓN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Un solo hilo conductor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0B429"/>
                </a:solidFill>
                <a:latin typeface="Calibri"/>
              </a:rPr>
              <a:t>LA CLAVE DE LA INTEGRACIÓN</a:t>
            </a:r>
          </a:p>
          <a:p>
            <a:pPr algn="l">
              <a:lnSpc>
                <a:spcPct val="114000"/>
              </a:lnSpc>
              <a:spcBef>
                <a:spcPts val="200"/>
              </a:spcBef>
            </a:pPr>
            <a:r>
              <a:rPr sz="1450" b="0" i="0">
                <a:solidFill>
                  <a:srgbClr val="B8CBE8"/>
                </a:solidFill>
                <a:latin typeface="Calibri"/>
              </a:rPr>
              <a:t>Las tres fases no son ejercicios aislados: cada una alimenta a la siguiente sobre el mismo dominio.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34640"/>
            <a:ext cx="3200400" cy="173736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834640"/>
            <a:ext cx="3200400" cy="457200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FASE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3200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El MLP aprende
embeddings 128D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834640"/>
            <a:ext cx="91440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834640"/>
            <a:ext cx="3200400" cy="173736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83480" y="2834640"/>
            <a:ext cx="3200400" cy="457200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834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FASE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474720"/>
            <a:ext cx="3200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FAISS los indexa
y recupera similares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834640"/>
            <a:ext cx="91440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834640"/>
            <a:ext cx="3200400" cy="173736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98280" y="2834640"/>
            <a:ext cx="3200400" cy="457200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834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FASE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474720"/>
            <a:ext cx="3200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Sistema integral
de tasación + comparables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B8CBE8"/>
                </a:solidFill>
                <a:latin typeface="Calibri"/>
              </a:rPr>
              <a:t>Todo trazable con las 6 fases CRISP-DM · Repositorio organizado: data · notebooks · src · models · reports · app · 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Lo que aprendimos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49240" cy="18288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9728" cy="18288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R² = 0,9359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CBE8"/>
                </a:solidFill>
                <a:latin typeface="Calibri"/>
              </a:rPr>
              <a:t>Objetivo cumplido — RMSE de solo $20.035 en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349240" cy="18288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109728" cy="18288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Lo simple ganó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CBE8"/>
                </a:solidFill>
                <a:latin typeface="Calibri"/>
              </a:rPr>
              <a:t>Ridge superó a XGBoost, al MLP profundo y a AutoML.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49240" cy="18288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109728" cy="18288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Embeddings con propósito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CBE8"/>
                </a:solidFill>
                <a:latin typeface="Calibri"/>
              </a:rPr>
              <a:t>El Deep Learning aportó valor en la recuperación, no en la predicción.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349240" cy="18288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109728" cy="18288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0624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B429"/>
                </a:solidFill>
                <a:latin typeface="Georgia"/>
              </a:rPr>
              <a:t>MLOps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9204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CBE8"/>
                </a:solidFill>
                <a:latin typeface="Calibri"/>
              </a:rPr>
              <a:t>Tracking, versionado, FAISS y PSI funcionando de extremo a extremo.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REFLEXIÓN CRÍTICA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Reflexión Ética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49240" cy="18288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9728" cy="18288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Sesgo geográfico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CBE8"/>
                </a:solidFill>
                <a:latin typeface="Calibri"/>
              </a:rPr>
              <a:t>El precio correlaciona con el barrio: el modelo puede perpetuar desigualdades. No debe usarse sin revisión humana.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349240" cy="18288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109728" cy="18288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Transparencia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CBE8"/>
                </a:solidFill>
                <a:latin typeface="Calibri"/>
              </a:rPr>
              <a:t>Con SHAP, cada predicción es explicable y auditable — no es una caja negra.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49240" cy="18288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109728" cy="18288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Uso responsable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CBE8"/>
                </a:solidFill>
                <a:latin typeface="Calibri"/>
              </a:rPr>
              <a:t>Es un apoyo a la decisión, nunca la autoridad final sobre el valor de una vivienda.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349240" cy="182880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109728" cy="18288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Privacidad y honestidad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0916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CBE8"/>
                </a:solidFill>
                <a:latin typeface="Calibri"/>
              </a:rPr>
              <a:t>Datos públicos sin información personal; todos los resultados provienen de ejecución real del código.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20624" cy="42062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1A34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9377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Calibri"/>
              </a:rPr>
              <a:t>CIERRE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Limitaciones y Trabajo Futuro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94960" cy="4297680"/>
          </a:xfrm>
          <a:prstGeom prst="round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Calibri"/>
              </a:rPr>
              <a:t>LIMITACIONES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 i="0">
                <a:solidFill>
                  <a:srgbClr val="B8CBE8"/>
                </a:solidFill>
                <a:latin typeface="Calibri"/>
              </a:rPr>
              <a:t>•  Dataset pequeño (~2.900 filas) que penaliza al Deep Learning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 i="0">
                <a:solidFill>
                  <a:srgbClr val="B8CBE8"/>
                </a:solidFill>
                <a:latin typeface="Calibri"/>
              </a:rPr>
              <a:t>•  Una sola ciudad y periodo 2006–2010 (incluye crisis 2008)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B8CBE8"/>
                </a:solidFill>
                <a:latin typeface="Calibri"/>
              </a:rPr>
              <a:t>•  Mayor error en el segmento económico (&lt; $120k)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94960" cy="4297680"/>
          </a:xfrm>
          <a:prstGeom prst="roundRect">
            <a:avLst/>
          </a:prstGeom>
          <a:solidFill>
            <a:srgbClr val="18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Calibri"/>
              </a:rPr>
              <a:t>TRABAJO FUTURO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Descripciones textuales + Transformers para embeddings de texto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Datos geoespaciales (coordenadas, cercanía a servicios)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Reentrenamiento automático gatillado por el PSI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Modelos calibrados por segmento de precio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2C8"/>
                </a:solidFill>
                <a:latin typeface="Calibri"/>
              </a:rPr>
              <a:t>Grupo 4 · Ames Housing · SIS-351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A2C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92624" y="868680"/>
            <a:ext cx="21945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014984"/>
            <a:ext cx="1901952" cy="1901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¡Gracias por su atención!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4873752" cy="254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0B429"/>
                </a:solidFill>
                <a:latin typeface="Calibri"/>
              </a:rPr>
              <a:t>Ridge R² = 0,9359   ·   RAG con FAISS (P@5 70,4%)   ·   MLOps + PSI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B8CBE8"/>
                </a:solidFill>
                <a:latin typeface="Calibri"/>
              </a:rPr>
              <a:t>Grupo 4 · SIS-351 Machine Learning · Universidad Católica Boliviana «San Pablo»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8AA2C8"/>
                </a:solidFill>
                <a:latin typeface="Calibri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